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1371600"/>
            <a:ext cx="10058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spc="200" kern="0" dirty="0">
                <a:solidFill>
                  <a:srgbClr val="5EEA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CASE STUDY · AI AUTOMATION &amp; TECHNICAL DOCUMENTATION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1828800"/>
            <a:ext cx="10515600" cy="2011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5400" b="1" dirty="0">
                <a:solidFill>
                  <a:srgbClr val="E6EDF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AI Recruiting</a:t>
            </a:r>
            <a:endParaRPr lang="en-US" sz="540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5400" b="1" dirty="0">
                <a:solidFill>
                  <a:srgbClr val="E6EDF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Automation Platform</a:t>
            </a:r>
            <a:endParaRPr lang="en-US" sz="5400" dirty="0"/>
          </a:p>
        </p:txBody>
      </p:sp>
      <p:sp>
        <p:nvSpPr>
          <p:cNvPr id="4" name="Text 2"/>
          <p:cNvSpPr/>
          <p:nvPr/>
        </p:nvSpPr>
        <p:spPr>
          <a:xfrm>
            <a:off x="640080" y="3886200"/>
            <a:ext cx="95097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9AA7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DeepSeek matching engine and a 14-service communications pipeline, designed and built from scratch, running unattended in production.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640080" y="4983480"/>
            <a:ext cx="2606040" cy="384048"/>
          </a:xfrm>
          <a:prstGeom prst="roundRect">
            <a:avLst>
              <a:gd name="adj" fmla="val 50000"/>
            </a:avLst>
          </a:prstGeom>
          <a:solidFill>
            <a:srgbClr val="161B22"/>
          </a:solidFill>
          <a:ln w="12700">
            <a:solidFill>
              <a:srgbClr val="2A324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4983480"/>
            <a:ext cx="26060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EEA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AI Automations Expert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3429000" y="4983480"/>
            <a:ext cx="2606040" cy="384048"/>
          </a:xfrm>
          <a:prstGeom prst="roundRect">
            <a:avLst>
              <a:gd name="adj" fmla="val 50000"/>
            </a:avLst>
          </a:prstGeom>
          <a:solidFill>
            <a:srgbClr val="161B22"/>
          </a:solidFill>
          <a:ln w="12700">
            <a:solidFill>
              <a:srgbClr val="2A324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429000" y="4983480"/>
            <a:ext cx="26060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EEA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Senior Technical Writer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6217920" y="4983480"/>
            <a:ext cx="2743200" cy="384048"/>
          </a:xfrm>
          <a:prstGeom prst="roundRect">
            <a:avLst>
              <a:gd name="adj" fmla="val 50000"/>
            </a:avLst>
          </a:prstGeom>
          <a:solidFill>
            <a:srgbClr val="161B22"/>
          </a:solidFill>
          <a:ln w="12700">
            <a:solidFill>
              <a:srgbClr val="2A324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217920" y="4983480"/>
            <a:ext cx="27432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EEA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DeepSeek · LLM Workflows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640080" y="5943600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Wessam Mandour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spc="200" kern="0" dirty="0">
                <a:solidFill>
                  <a:srgbClr val="5EEA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THE PROBLEM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822960"/>
            <a:ext cx="108813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E6EDF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Recruiting top-of-funnel doesn't scale by hand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640080" y="1691640"/>
            <a:ext cx="106070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9AA7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Hundreds of candidates per role. Multi-channel outreach under provider rate caps. Interview transcripts to score. And a final match a recruiter must actually trust.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640080" y="2697480"/>
            <a:ext cx="5120640" cy="1463040"/>
          </a:xfrm>
          <a:prstGeom prst="roundRect">
            <a:avLst>
              <a:gd name="adj" fmla="val 5000"/>
            </a:avLst>
          </a:prstGeom>
          <a:solidFill>
            <a:srgbClr val="161B22"/>
          </a:solidFill>
          <a:ln w="12700">
            <a:solidFill>
              <a:srgbClr val="2A324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14400" y="2898648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5EEAD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Volume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914400" y="3319272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9AA7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Hundreds of applicants per role, most not a fit, manual screening is hours of work.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6080760" y="2697480"/>
            <a:ext cx="5120640" cy="1463040"/>
          </a:xfrm>
          <a:prstGeom prst="roundRect">
            <a:avLst>
              <a:gd name="adj" fmla="val 5000"/>
            </a:avLst>
          </a:prstGeom>
          <a:solidFill>
            <a:srgbClr val="161B22"/>
          </a:solidFill>
          <a:ln w="12700">
            <a:solidFill>
              <a:srgbClr val="2A324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355080" y="2898648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5EEAD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Rate limits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6355080" y="3319272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9AA7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Email + WhatsApp outreach must respect provider caps and never double-send.</a:t>
            </a:r>
            <a:endParaRPr lang="en-US" sz="1350" dirty="0"/>
          </a:p>
        </p:txBody>
      </p:sp>
      <p:sp>
        <p:nvSpPr>
          <p:cNvPr id="11" name="Shape 9"/>
          <p:cNvSpPr/>
          <p:nvPr/>
        </p:nvSpPr>
        <p:spPr>
          <a:xfrm>
            <a:off x="640080" y="4389120"/>
            <a:ext cx="5120640" cy="1463040"/>
          </a:xfrm>
          <a:prstGeom prst="roundRect">
            <a:avLst>
              <a:gd name="adj" fmla="val 5000"/>
            </a:avLst>
          </a:prstGeom>
          <a:solidFill>
            <a:srgbClr val="161B22"/>
          </a:solidFill>
          <a:ln w="12700">
            <a:solidFill>
              <a:srgbClr val="2A324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914400" y="4590288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5EEAD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Transcripts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914400" y="5010912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9AA7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Screening interviews arrive as raw transcripts that need consistent scoring.</a:t>
            </a:r>
            <a:endParaRPr lang="en-US" sz="1350" dirty="0"/>
          </a:p>
        </p:txBody>
      </p:sp>
      <p:sp>
        <p:nvSpPr>
          <p:cNvPr id="14" name="Shape 12"/>
          <p:cNvSpPr/>
          <p:nvPr/>
        </p:nvSpPr>
        <p:spPr>
          <a:xfrm>
            <a:off x="6080760" y="4389120"/>
            <a:ext cx="5120640" cy="1463040"/>
          </a:xfrm>
          <a:prstGeom prst="roundRect">
            <a:avLst>
              <a:gd name="adj" fmla="val 5000"/>
            </a:avLst>
          </a:prstGeom>
          <a:solidFill>
            <a:srgbClr val="161B22"/>
          </a:solidFill>
          <a:ln w="12700">
            <a:solidFill>
              <a:srgbClr val="2A324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355080" y="4590288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5EEAD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Trust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6355080" y="5010912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9AA7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bare match score is useless, a recruiter needs to know WHY a candidate ranked.</a:t>
            </a:r>
            <a:endParaRPr lang="en-US" sz="13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spc="200" kern="0" dirty="0">
                <a:solidFill>
                  <a:srgbClr val="5EEA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THE SYSTEM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822960"/>
            <a:ext cx="108813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E6EDF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Two systems, one automated funnel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737360"/>
            <a:ext cx="5120640" cy="2103120"/>
          </a:xfrm>
          <a:prstGeom prst="roundRect">
            <a:avLst>
              <a:gd name="adj" fmla="val 3478"/>
            </a:avLst>
          </a:prstGeom>
          <a:solidFill>
            <a:srgbClr val="161B22"/>
          </a:solidFill>
          <a:ln w="12700">
            <a:solidFill>
              <a:srgbClr val="2A324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60120" y="1965960"/>
            <a:ext cx="45720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E6EDF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◆  Matching Engine</a:t>
            </a:r>
            <a:endParaRPr lang="en-US" sz="2100" dirty="0"/>
          </a:p>
        </p:txBody>
      </p:sp>
      <p:sp>
        <p:nvSpPr>
          <p:cNvPr id="6" name="Text 4"/>
          <p:cNvSpPr/>
          <p:nvPr/>
        </p:nvSpPr>
        <p:spPr>
          <a:xfrm>
            <a:off x="960120" y="2450592"/>
            <a:ext cx="4572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EEA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Python · FastAPI · DeepSeek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960120" y="2852928"/>
            <a:ext cx="45720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AA7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Ranks candidates with a written rationale each, through a six-stage funnel. A full run takes 90 to 120 min on Railway and posts Slack status to the team.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6080760" y="1737360"/>
            <a:ext cx="5120640" cy="2103120"/>
          </a:xfrm>
          <a:prstGeom prst="roundRect">
            <a:avLst>
              <a:gd name="adj" fmla="val 3478"/>
            </a:avLst>
          </a:prstGeom>
          <a:solidFill>
            <a:srgbClr val="161B22"/>
          </a:solidFill>
          <a:ln w="12700">
            <a:solidFill>
              <a:srgbClr val="2A324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400800" y="1965960"/>
            <a:ext cx="45720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E6EDF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◆  Candidate Flow</a:t>
            </a:r>
            <a:endParaRPr lang="en-US" sz="2100" dirty="0"/>
          </a:p>
        </p:txBody>
      </p:sp>
      <p:sp>
        <p:nvSpPr>
          <p:cNvPr id="10" name="Text 8"/>
          <p:cNvSpPr/>
          <p:nvPr/>
        </p:nvSpPr>
        <p:spPr>
          <a:xfrm>
            <a:off x="6400800" y="2450592"/>
            <a:ext cx="4572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EEA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Node · Express · 14 services</a:t>
            </a:r>
            <a:endParaRPr lang="en-US" sz="1250" dirty="0"/>
          </a:p>
        </p:txBody>
      </p:sp>
      <p:sp>
        <p:nvSpPr>
          <p:cNvPr id="11" name="Text 9"/>
          <p:cNvSpPr/>
          <p:nvPr/>
        </p:nvSpPr>
        <p:spPr>
          <a:xfrm>
            <a:off x="6400800" y="2852928"/>
            <a:ext cx="45720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AA7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2,000+ WhatsApp messages and emails a day (Twilio + Postmark), transcript scoring, and a CV parser that finishes in under a minute.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640080" y="4114800"/>
            <a:ext cx="2514600" cy="1463040"/>
          </a:xfrm>
          <a:prstGeom prst="roundRect">
            <a:avLst>
              <a:gd name="adj" fmla="val 5000"/>
            </a:avLst>
          </a:prstGeom>
          <a:solidFill>
            <a:srgbClr val="1C2330"/>
          </a:solidFill>
          <a:ln w="12700">
            <a:solidFill>
              <a:srgbClr val="2A324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40080" y="4334256"/>
            <a:ext cx="25146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5EEAD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40,000</a:t>
            </a:r>
            <a:endParaRPr lang="en-US" sz="2600" dirty="0"/>
          </a:p>
        </p:txBody>
      </p:sp>
      <p:sp>
        <p:nvSpPr>
          <p:cNvPr id="14" name="Text 12"/>
          <p:cNvSpPr/>
          <p:nvPr/>
        </p:nvSpPr>
        <p:spPr>
          <a:xfrm>
            <a:off x="640080" y="5010912"/>
            <a:ext cx="2514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9AA7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rows scanned / run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3364992" y="4114800"/>
            <a:ext cx="2514600" cy="1463040"/>
          </a:xfrm>
          <a:prstGeom prst="roundRect">
            <a:avLst>
              <a:gd name="adj" fmla="val 5000"/>
            </a:avLst>
          </a:prstGeom>
          <a:solidFill>
            <a:srgbClr val="1C2330"/>
          </a:solidFill>
          <a:ln w="12700">
            <a:solidFill>
              <a:srgbClr val="2A324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364992" y="4334256"/>
            <a:ext cx="25146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5EEAD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90-120 min</a:t>
            </a:r>
            <a:endParaRPr lang="en-US" sz="2600" dirty="0"/>
          </a:p>
        </p:txBody>
      </p:sp>
      <p:sp>
        <p:nvSpPr>
          <p:cNvPr id="17" name="Text 15"/>
          <p:cNvSpPr/>
          <p:nvPr/>
        </p:nvSpPr>
        <p:spPr>
          <a:xfrm>
            <a:off x="3364992" y="5010912"/>
            <a:ext cx="2514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9AA7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matching run on Railway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6089904" y="4114800"/>
            <a:ext cx="2514600" cy="1463040"/>
          </a:xfrm>
          <a:prstGeom prst="roundRect">
            <a:avLst>
              <a:gd name="adj" fmla="val 5000"/>
            </a:avLst>
          </a:prstGeom>
          <a:solidFill>
            <a:srgbClr val="1C2330"/>
          </a:solidFill>
          <a:ln w="12700">
            <a:solidFill>
              <a:srgbClr val="2A324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089904" y="4334256"/>
            <a:ext cx="25146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5EEAD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2,000+/day</a:t>
            </a:r>
            <a:endParaRPr lang="en-US" sz="2600" dirty="0"/>
          </a:p>
        </p:txBody>
      </p:sp>
      <p:sp>
        <p:nvSpPr>
          <p:cNvPr id="20" name="Text 18"/>
          <p:cNvSpPr/>
          <p:nvPr/>
        </p:nvSpPr>
        <p:spPr>
          <a:xfrm>
            <a:off x="6089904" y="5010912"/>
            <a:ext cx="2514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9AA7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WhatsApp + email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8814816" y="4114800"/>
            <a:ext cx="2514600" cy="1463040"/>
          </a:xfrm>
          <a:prstGeom prst="roundRect">
            <a:avLst>
              <a:gd name="adj" fmla="val 5000"/>
            </a:avLst>
          </a:prstGeom>
          <a:solidFill>
            <a:srgbClr val="1C2330"/>
          </a:solidFill>
          <a:ln w="12700">
            <a:solidFill>
              <a:srgbClr val="2A324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8814816" y="4334256"/>
            <a:ext cx="25146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5EEAD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&lt;1 min</a:t>
            </a:r>
            <a:endParaRPr lang="en-US" sz="2600" dirty="0"/>
          </a:p>
        </p:txBody>
      </p:sp>
      <p:sp>
        <p:nvSpPr>
          <p:cNvPr id="23" name="Text 21"/>
          <p:cNvSpPr/>
          <p:nvPr/>
        </p:nvSpPr>
        <p:spPr>
          <a:xfrm>
            <a:off x="8814816" y="5010912"/>
            <a:ext cx="2514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9AA7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CV parsed, regex-first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640080" y="5897880"/>
            <a:ext cx="10881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7D8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Deployed on Railway, triggered by webhooks, runs unattended, with Slack status to the whole team.</a:t>
            </a:r>
            <a:endParaRPr lang="en-US" sz="13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spc="200" kern="0" dirty="0">
                <a:solidFill>
                  <a:srgbClr val="5EEA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ARCHITECTURE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822960"/>
            <a:ext cx="108813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E6EDF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Event-driven, with the workspace as source of truth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2743200"/>
            <a:ext cx="2286000" cy="1188720"/>
          </a:xfrm>
          <a:prstGeom prst="roundRect">
            <a:avLst>
              <a:gd name="adj" fmla="val 4615"/>
            </a:avLst>
          </a:prstGeom>
          <a:solidFill>
            <a:srgbClr val="1C2330"/>
          </a:solidFill>
          <a:ln w="19050">
            <a:solidFill>
              <a:srgbClr val="5EEAD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40080" y="2852928"/>
            <a:ext cx="228600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Notion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Workspace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640080" y="3218688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7D88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webhook source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840480" y="1874520"/>
            <a:ext cx="2743200" cy="914400"/>
          </a:xfrm>
          <a:prstGeom prst="roundRect">
            <a:avLst>
              <a:gd name="adj" fmla="val 6000"/>
            </a:avLst>
          </a:prstGeom>
          <a:solidFill>
            <a:srgbClr val="161B22"/>
          </a:solidFill>
          <a:ln w="12700">
            <a:solidFill>
              <a:srgbClr val="2A324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840480" y="198424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Candidate Flow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3840480" y="2350008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7D88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14 services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3840480" y="3154680"/>
            <a:ext cx="2743200" cy="914400"/>
          </a:xfrm>
          <a:prstGeom prst="roundRect">
            <a:avLst>
              <a:gd name="adj" fmla="val 6000"/>
            </a:avLst>
          </a:prstGeom>
          <a:solidFill>
            <a:srgbClr val="161B22"/>
          </a:solidFill>
          <a:ln w="12700">
            <a:solidFill>
              <a:srgbClr val="2A324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840480" y="326440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Matching Engine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3840480" y="3630168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7D88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queue → 6 stages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7589520" y="1874520"/>
            <a:ext cx="1920240" cy="914400"/>
          </a:xfrm>
          <a:prstGeom prst="roundRect">
            <a:avLst>
              <a:gd name="adj" fmla="val 6000"/>
            </a:avLst>
          </a:prstGeom>
          <a:solidFill>
            <a:srgbClr val="161B22"/>
          </a:solidFill>
          <a:ln w="12700">
            <a:solidFill>
              <a:srgbClr val="2A324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589520" y="1874520"/>
            <a:ext cx="1920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Email · WhatsApp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CV · transcripts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7589520" y="3154680"/>
            <a:ext cx="1920240" cy="914400"/>
          </a:xfrm>
          <a:prstGeom prst="roundRect">
            <a:avLst>
              <a:gd name="adj" fmla="val 6000"/>
            </a:avLst>
          </a:prstGeom>
          <a:solidFill>
            <a:srgbClr val="161B22"/>
          </a:solidFill>
          <a:ln w="12700">
            <a:solidFill>
              <a:srgbClr val="2A324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7589520" y="3154680"/>
            <a:ext cx="1920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 scoring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(DeepSeek)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10058400" y="2468880"/>
            <a:ext cx="1554480" cy="1463040"/>
          </a:xfrm>
          <a:prstGeom prst="roundRect">
            <a:avLst>
              <a:gd name="adj" fmla="val 3750"/>
            </a:avLst>
          </a:prstGeom>
          <a:solidFill>
            <a:srgbClr val="1C2330"/>
          </a:solidFill>
          <a:ln w="19050">
            <a:solidFill>
              <a:srgbClr val="5EEAD4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10058400" y="2468880"/>
            <a:ext cx="155448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Ranked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shortlist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rationale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2286000" y="3017520"/>
            <a:ext cx="1554480" cy="-685800"/>
          </a:xfrm>
          <a:prstGeom prst="line">
            <a:avLst/>
          </a:prstGeom>
          <a:noFill/>
          <a:ln w="22225">
            <a:solidFill>
              <a:srgbClr val="5EEAD4"/>
            </a:solidFill>
            <a:prstDash val="solid"/>
            <a:tailEnd type="triangle"/>
          </a:ln>
        </p:spPr>
      </p:sp>
      <p:sp>
        <p:nvSpPr>
          <p:cNvPr id="20" name="Shape 18"/>
          <p:cNvSpPr/>
          <p:nvPr/>
        </p:nvSpPr>
        <p:spPr>
          <a:xfrm>
            <a:off x="2286000" y="3200400"/>
            <a:ext cx="1554480" cy="411480"/>
          </a:xfrm>
          <a:prstGeom prst="line">
            <a:avLst/>
          </a:prstGeom>
          <a:noFill/>
          <a:ln w="22225">
            <a:solidFill>
              <a:srgbClr val="5EEAD4"/>
            </a:solidFill>
            <a:prstDash val="solid"/>
            <a:tailEnd type="triangle"/>
          </a:ln>
        </p:spPr>
      </p:sp>
      <p:sp>
        <p:nvSpPr>
          <p:cNvPr id="21" name="Shape 19"/>
          <p:cNvSpPr/>
          <p:nvPr/>
        </p:nvSpPr>
        <p:spPr>
          <a:xfrm>
            <a:off x="6583680" y="2331720"/>
            <a:ext cx="1005840" cy="0"/>
          </a:xfrm>
          <a:prstGeom prst="line">
            <a:avLst/>
          </a:prstGeom>
          <a:noFill/>
          <a:ln w="22225">
            <a:solidFill>
              <a:srgbClr val="5EEAD4"/>
            </a:solidFill>
            <a:prstDash val="solid"/>
            <a:tailEnd type="triangle"/>
          </a:ln>
        </p:spPr>
      </p:sp>
      <p:sp>
        <p:nvSpPr>
          <p:cNvPr id="22" name="Shape 20"/>
          <p:cNvSpPr/>
          <p:nvPr/>
        </p:nvSpPr>
        <p:spPr>
          <a:xfrm>
            <a:off x="6583680" y="3611880"/>
            <a:ext cx="1005840" cy="0"/>
          </a:xfrm>
          <a:prstGeom prst="line">
            <a:avLst/>
          </a:prstGeom>
          <a:noFill/>
          <a:ln w="22225">
            <a:solidFill>
              <a:srgbClr val="5EEAD4"/>
            </a:solidFill>
            <a:prstDash val="solid"/>
            <a:tailEnd type="triangle"/>
          </a:ln>
        </p:spPr>
      </p:sp>
      <p:sp>
        <p:nvSpPr>
          <p:cNvPr id="23" name="Shape 21"/>
          <p:cNvSpPr/>
          <p:nvPr/>
        </p:nvSpPr>
        <p:spPr>
          <a:xfrm>
            <a:off x="9509760" y="3200400"/>
            <a:ext cx="548640" cy="0"/>
          </a:xfrm>
          <a:prstGeom prst="line">
            <a:avLst/>
          </a:prstGeom>
          <a:noFill/>
          <a:ln w="22225">
            <a:solidFill>
              <a:srgbClr val="5EEAD4"/>
            </a:solidFill>
            <a:prstDash val="solid"/>
            <a:tailEnd type="triangle"/>
          </a:ln>
        </p:spPr>
      </p:sp>
      <p:sp>
        <p:nvSpPr>
          <p:cNvPr id="24" name="Shape 22"/>
          <p:cNvSpPr/>
          <p:nvPr/>
        </p:nvSpPr>
        <p:spPr>
          <a:xfrm>
            <a:off x="1783080" y="3931920"/>
            <a:ext cx="0" cy="914400"/>
          </a:xfrm>
          <a:prstGeom prst="line">
            <a:avLst/>
          </a:prstGeom>
          <a:noFill/>
          <a:ln w="15875">
            <a:solidFill>
              <a:srgbClr val="7D8896"/>
            </a:solidFill>
            <a:prstDash val="dash"/>
          </a:ln>
        </p:spPr>
      </p:sp>
      <p:sp>
        <p:nvSpPr>
          <p:cNvPr id="25" name="Shape 23"/>
          <p:cNvSpPr/>
          <p:nvPr/>
        </p:nvSpPr>
        <p:spPr>
          <a:xfrm>
            <a:off x="1783080" y="4846320"/>
            <a:ext cx="9052560" cy="0"/>
          </a:xfrm>
          <a:prstGeom prst="line">
            <a:avLst/>
          </a:prstGeom>
          <a:noFill/>
          <a:ln w="15875">
            <a:solidFill>
              <a:srgbClr val="7D8896"/>
            </a:solidFill>
            <a:prstDash val="dash"/>
          </a:ln>
        </p:spPr>
      </p:sp>
      <p:sp>
        <p:nvSpPr>
          <p:cNvPr id="26" name="Shape 24"/>
          <p:cNvSpPr/>
          <p:nvPr/>
        </p:nvSpPr>
        <p:spPr>
          <a:xfrm>
            <a:off x="10835640" y="4846320"/>
            <a:ext cx="0" cy="-868680"/>
          </a:xfrm>
          <a:prstGeom prst="line">
            <a:avLst/>
          </a:prstGeom>
          <a:noFill/>
          <a:ln w="15875">
            <a:solidFill>
              <a:srgbClr val="7D8896"/>
            </a:solidFill>
            <a:prstDash val="dash"/>
            <a:tailEnd type="triangle"/>
          </a:ln>
        </p:spPr>
      </p:sp>
      <p:sp>
        <p:nvSpPr>
          <p:cNvPr id="27" name="Text 25"/>
          <p:cNvSpPr/>
          <p:nvPr/>
        </p:nvSpPr>
        <p:spPr>
          <a:xfrm>
            <a:off x="4114800" y="4864608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D88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writes results back → workspace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640080" y="5669280"/>
            <a:ext cx="10881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9AA7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shared database to corrupt  ·  failure in one service can't block another  ·  every service stateless &amp; idempotent</a:t>
            </a:r>
            <a:endParaRPr lang="en-US" sz="1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spc="200" kern="0" dirty="0">
                <a:solidFill>
                  <a:srgbClr val="5EEA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DEEP DIVE · MATCHING ENGINE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822960"/>
            <a:ext cx="108813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E6EDF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Six stages: job description → ranked shortlist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640080" y="1645920"/>
            <a:ext cx="10698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9AA7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stage narrows the pool before the next, more expensive stage runs. The LLM only sees candidates worth paying to score.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286000"/>
            <a:ext cx="5120640" cy="1143000"/>
          </a:xfrm>
          <a:prstGeom prst="roundRect">
            <a:avLst>
              <a:gd name="adj" fmla="val 6400"/>
            </a:avLst>
          </a:prstGeom>
          <a:solidFill>
            <a:srgbClr val="161B22"/>
          </a:solidFill>
          <a:ln w="12700">
            <a:solidFill>
              <a:srgbClr val="2A324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68680" y="2560320"/>
            <a:ext cx="594360" cy="594360"/>
          </a:xfrm>
          <a:prstGeom prst="roundRect">
            <a:avLst>
              <a:gd name="adj" fmla="val 12308"/>
            </a:avLst>
          </a:prstGeom>
          <a:solidFill>
            <a:srgbClr val="1C2330"/>
          </a:solidFill>
          <a:ln w="12700">
            <a:solidFill>
              <a:srgbClr val="2A324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68680" y="2560320"/>
            <a:ext cx="5943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5EEAD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1645920" y="2450592"/>
            <a:ext cx="3931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6EDF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Rubric extraction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1645920" y="2816352"/>
            <a:ext cx="3977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AA7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 turns free-text job spec into a structured rubric: gates, requirements, keywords.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6080760" y="2286000"/>
            <a:ext cx="5120640" cy="1143000"/>
          </a:xfrm>
          <a:prstGeom prst="roundRect">
            <a:avLst>
              <a:gd name="adj" fmla="val 6400"/>
            </a:avLst>
          </a:prstGeom>
          <a:solidFill>
            <a:srgbClr val="161B22"/>
          </a:solidFill>
          <a:ln w="12700">
            <a:solidFill>
              <a:srgbClr val="2A3240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309360" y="2560320"/>
            <a:ext cx="594360" cy="594360"/>
          </a:xfrm>
          <a:prstGeom prst="roundRect">
            <a:avLst>
              <a:gd name="adj" fmla="val 12308"/>
            </a:avLst>
          </a:prstGeom>
          <a:solidFill>
            <a:srgbClr val="1C2330"/>
          </a:solidFill>
          <a:ln w="12700">
            <a:solidFill>
              <a:srgbClr val="2A324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309360" y="2560320"/>
            <a:ext cx="5943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5EEAD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2200" dirty="0"/>
          </a:p>
        </p:txBody>
      </p:sp>
      <p:sp>
        <p:nvSpPr>
          <p:cNvPr id="13" name="Text 11"/>
          <p:cNvSpPr/>
          <p:nvPr/>
        </p:nvSpPr>
        <p:spPr>
          <a:xfrm>
            <a:off x="7086600" y="2450592"/>
            <a:ext cx="3931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6EDF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Keyword reduction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7086600" y="2816352"/>
            <a:ext cx="3977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AA7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Cheap local filter drops no-signal candidates BEFORE any paid LLM call, top cost lever.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640080" y="3611880"/>
            <a:ext cx="5120640" cy="1143000"/>
          </a:xfrm>
          <a:prstGeom prst="roundRect">
            <a:avLst>
              <a:gd name="adj" fmla="val 6400"/>
            </a:avLst>
          </a:prstGeom>
          <a:solidFill>
            <a:srgbClr val="161B22"/>
          </a:solidFill>
          <a:ln w="12700">
            <a:solidFill>
              <a:srgbClr val="2A324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868680" y="3886200"/>
            <a:ext cx="594360" cy="594360"/>
          </a:xfrm>
          <a:prstGeom prst="roundRect">
            <a:avLst>
              <a:gd name="adj" fmla="val 12308"/>
            </a:avLst>
          </a:prstGeom>
          <a:solidFill>
            <a:srgbClr val="1C2330"/>
          </a:solidFill>
          <a:ln w="12700">
            <a:solidFill>
              <a:srgbClr val="2A324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68680" y="3886200"/>
            <a:ext cx="5943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5EEAD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2200" dirty="0"/>
          </a:p>
        </p:txBody>
      </p:sp>
      <p:sp>
        <p:nvSpPr>
          <p:cNvPr id="18" name="Text 16"/>
          <p:cNvSpPr/>
          <p:nvPr/>
        </p:nvSpPr>
        <p:spPr>
          <a:xfrm>
            <a:off x="1645920" y="3776472"/>
            <a:ext cx="3931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6EDF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Hard filters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1645920" y="4142232"/>
            <a:ext cx="3977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AA7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Non-negotiable gates: language, location, minimum screening score.</a:t>
            </a:r>
            <a:endParaRPr lang="en-US" sz="1250" dirty="0"/>
          </a:p>
        </p:txBody>
      </p:sp>
      <p:sp>
        <p:nvSpPr>
          <p:cNvPr id="20" name="Shape 18"/>
          <p:cNvSpPr/>
          <p:nvPr/>
        </p:nvSpPr>
        <p:spPr>
          <a:xfrm>
            <a:off x="6080760" y="3611880"/>
            <a:ext cx="5120640" cy="1143000"/>
          </a:xfrm>
          <a:prstGeom prst="roundRect">
            <a:avLst>
              <a:gd name="adj" fmla="val 6400"/>
            </a:avLst>
          </a:prstGeom>
          <a:solidFill>
            <a:srgbClr val="161B22"/>
          </a:solidFill>
          <a:ln w="12700">
            <a:solidFill>
              <a:srgbClr val="2A3240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6309360" y="3886200"/>
            <a:ext cx="594360" cy="594360"/>
          </a:xfrm>
          <a:prstGeom prst="roundRect">
            <a:avLst>
              <a:gd name="adj" fmla="val 12308"/>
            </a:avLst>
          </a:prstGeom>
          <a:solidFill>
            <a:srgbClr val="1C2330"/>
          </a:solidFill>
          <a:ln w="12700">
            <a:solidFill>
              <a:srgbClr val="2A324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309360" y="3886200"/>
            <a:ext cx="5943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5EEAD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</a:t>
            </a:r>
            <a:endParaRPr lang="en-US" sz="2200" dirty="0"/>
          </a:p>
        </p:txBody>
      </p:sp>
      <p:sp>
        <p:nvSpPr>
          <p:cNvPr id="23" name="Text 21"/>
          <p:cNvSpPr/>
          <p:nvPr/>
        </p:nvSpPr>
        <p:spPr>
          <a:xfrm>
            <a:off x="7086600" y="3776472"/>
            <a:ext cx="3931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6EDF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Priority ordering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7086600" y="4142232"/>
            <a:ext cx="3977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AA7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Bucket by business priority; score the highest-value candidates first.</a:t>
            </a:r>
            <a:endParaRPr lang="en-US" sz="1250" dirty="0"/>
          </a:p>
        </p:txBody>
      </p:sp>
      <p:sp>
        <p:nvSpPr>
          <p:cNvPr id="25" name="Shape 23"/>
          <p:cNvSpPr/>
          <p:nvPr/>
        </p:nvSpPr>
        <p:spPr>
          <a:xfrm>
            <a:off x="640080" y="4937760"/>
            <a:ext cx="5120640" cy="1143000"/>
          </a:xfrm>
          <a:prstGeom prst="roundRect">
            <a:avLst>
              <a:gd name="adj" fmla="val 6400"/>
            </a:avLst>
          </a:prstGeom>
          <a:solidFill>
            <a:srgbClr val="161B22"/>
          </a:solidFill>
          <a:ln w="12700">
            <a:solidFill>
              <a:srgbClr val="2A324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868680" y="5212080"/>
            <a:ext cx="594360" cy="594360"/>
          </a:xfrm>
          <a:prstGeom prst="roundRect">
            <a:avLst>
              <a:gd name="adj" fmla="val 12308"/>
            </a:avLst>
          </a:prstGeom>
          <a:solidFill>
            <a:srgbClr val="1C2330"/>
          </a:solidFill>
          <a:ln w="12700">
            <a:solidFill>
              <a:srgbClr val="2A324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868680" y="5212080"/>
            <a:ext cx="5943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5EEAD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5</a:t>
            </a:r>
            <a:endParaRPr lang="en-US" sz="2200" dirty="0"/>
          </a:p>
        </p:txBody>
      </p:sp>
      <p:sp>
        <p:nvSpPr>
          <p:cNvPr id="28" name="Text 26"/>
          <p:cNvSpPr/>
          <p:nvPr/>
        </p:nvSpPr>
        <p:spPr>
          <a:xfrm>
            <a:off x="1645920" y="5102352"/>
            <a:ext cx="3931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6EDF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LLM scoring</a:t>
            </a:r>
            <a:endParaRPr lang="en-US" sz="1600" dirty="0"/>
          </a:p>
        </p:txBody>
      </p:sp>
      <p:sp>
        <p:nvSpPr>
          <p:cNvPr id="29" name="Text 27"/>
          <p:cNvSpPr/>
          <p:nvPr/>
        </p:nvSpPr>
        <p:spPr>
          <a:xfrm>
            <a:off x="1645920" y="5468112"/>
            <a:ext cx="3977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AA7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0-100 + written rationale each, concurrency-capped, retried, failure-isolated.</a:t>
            </a:r>
            <a:endParaRPr lang="en-US" sz="1250" dirty="0"/>
          </a:p>
        </p:txBody>
      </p:sp>
      <p:sp>
        <p:nvSpPr>
          <p:cNvPr id="30" name="Shape 28"/>
          <p:cNvSpPr/>
          <p:nvPr/>
        </p:nvSpPr>
        <p:spPr>
          <a:xfrm>
            <a:off x="6080760" y="4937760"/>
            <a:ext cx="5120640" cy="1143000"/>
          </a:xfrm>
          <a:prstGeom prst="roundRect">
            <a:avLst>
              <a:gd name="adj" fmla="val 6400"/>
            </a:avLst>
          </a:prstGeom>
          <a:solidFill>
            <a:srgbClr val="161B22"/>
          </a:solidFill>
          <a:ln w="12700">
            <a:solidFill>
              <a:srgbClr val="2A324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6309360" y="5212080"/>
            <a:ext cx="594360" cy="594360"/>
          </a:xfrm>
          <a:prstGeom prst="roundRect">
            <a:avLst>
              <a:gd name="adj" fmla="val 12308"/>
            </a:avLst>
          </a:prstGeom>
          <a:solidFill>
            <a:srgbClr val="1C2330"/>
          </a:solidFill>
          <a:ln w="12700">
            <a:solidFill>
              <a:srgbClr val="2A324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309360" y="5212080"/>
            <a:ext cx="5943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5EEAD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6</a:t>
            </a:r>
            <a:endParaRPr lang="en-US" sz="2200" dirty="0"/>
          </a:p>
        </p:txBody>
      </p:sp>
      <p:sp>
        <p:nvSpPr>
          <p:cNvPr id="33" name="Text 31"/>
          <p:cNvSpPr/>
          <p:nvPr/>
        </p:nvSpPr>
        <p:spPr>
          <a:xfrm>
            <a:off x="7086600" y="5102352"/>
            <a:ext cx="3931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6EDF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Qualify &amp; backfill</a:t>
            </a:r>
            <a:endParaRPr lang="en-US" sz="1600" dirty="0"/>
          </a:p>
        </p:txBody>
      </p:sp>
      <p:sp>
        <p:nvSpPr>
          <p:cNvPr id="34" name="Text 32"/>
          <p:cNvSpPr/>
          <p:nvPr/>
        </p:nvSpPr>
        <p:spPr>
          <a:xfrm>
            <a:off x="7086600" y="5468112"/>
            <a:ext cx="3977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AA7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Link qualified first; backfill best below-threshold to hit target, logged.</a:t>
            </a:r>
            <a:endParaRPr lang="en-US" sz="12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spc="200" kern="0" dirty="0">
                <a:solidFill>
                  <a:srgbClr val="5EEA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UNDER THE HOOD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822960"/>
            <a:ext cx="108813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E6EDF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parts that make it production, not a script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828800"/>
            <a:ext cx="3383280" cy="1691640"/>
          </a:xfrm>
          <a:prstGeom prst="roundRect">
            <a:avLst>
              <a:gd name="adj" fmla="val 4324"/>
            </a:avLst>
          </a:prstGeom>
          <a:solidFill>
            <a:srgbClr val="161B22"/>
          </a:solidFill>
          <a:ln w="12700">
            <a:solidFill>
              <a:srgbClr val="2A324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14400" y="2084832"/>
            <a:ext cx="502920" cy="502920"/>
          </a:xfrm>
          <a:prstGeom prst="ellipse">
            <a:avLst/>
          </a:prstGeom>
          <a:solidFill>
            <a:srgbClr val="1C2330"/>
          </a:solidFill>
          <a:ln w="15875">
            <a:solidFill>
              <a:srgbClr val="5EEAD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14400" y="2084832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5EEA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↻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914400" y="2697480"/>
            <a:ext cx="29260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6EDF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Idempotent re-runs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914400" y="3035808"/>
            <a:ext cx="2926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AA7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Scored records skipped on re-run, no double-contact, no duplicate matches.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4279392" y="1828800"/>
            <a:ext cx="3383280" cy="1691640"/>
          </a:xfrm>
          <a:prstGeom prst="roundRect">
            <a:avLst>
              <a:gd name="adj" fmla="val 4324"/>
            </a:avLst>
          </a:prstGeom>
          <a:solidFill>
            <a:srgbClr val="161B22"/>
          </a:solidFill>
          <a:ln w="12700">
            <a:solidFill>
              <a:srgbClr val="2A3240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553712" y="2084832"/>
            <a:ext cx="502920" cy="502920"/>
          </a:xfrm>
          <a:prstGeom prst="ellipse">
            <a:avLst/>
          </a:prstGeom>
          <a:solidFill>
            <a:srgbClr val="1C2330"/>
          </a:solidFill>
          <a:ln w="15875">
            <a:solidFill>
              <a:srgbClr val="5EEAD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53712" y="2084832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5EEA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⏱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4553712" y="2697480"/>
            <a:ext cx="29260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6EDF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Rate limiting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4553712" y="3035808"/>
            <a:ext cx="2926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AA7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Sequential queue, concurrency cap, write delays, under quota by design.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7918704" y="1828800"/>
            <a:ext cx="3383280" cy="1691640"/>
          </a:xfrm>
          <a:prstGeom prst="roundRect">
            <a:avLst>
              <a:gd name="adj" fmla="val 4324"/>
            </a:avLst>
          </a:prstGeom>
          <a:solidFill>
            <a:srgbClr val="161B22"/>
          </a:solidFill>
          <a:ln w="12700">
            <a:solidFill>
              <a:srgbClr val="2A3240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8193024" y="2084832"/>
            <a:ext cx="502920" cy="502920"/>
          </a:xfrm>
          <a:prstGeom prst="ellipse">
            <a:avLst/>
          </a:prstGeom>
          <a:solidFill>
            <a:srgbClr val="1C2330"/>
          </a:solidFill>
          <a:ln w="15875">
            <a:solidFill>
              <a:srgbClr val="5EEAD4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193024" y="2084832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5EEA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⤾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8193024" y="2697480"/>
            <a:ext cx="29260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6EDF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Graceful degradation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8193024" y="3035808"/>
            <a:ext cx="2926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AA7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Backoff + JSON hardening; one bad candidate can't sink a 200-candidate run.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640080" y="3749040"/>
            <a:ext cx="3383280" cy="1691640"/>
          </a:xfrm>
          <a:prstGeom prst="roundRect">
            <a:avLst>
              <a:gd name="adj" fmla="val 4324"/>
            </a:avLst>
          </a:prstGeom>
          <a:solidFill>
            <a:srgbClr val="161B22"/>
          </a:solidFill>
          <a:ln w="12700">
            <a:solidFill>
              <a:srgbClr val="2A324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914400" y="4005072"/>
            <a:ext cx="502920" cy="502920"/>
          </a:xfrm>
          <a:prstGeom prst="ellipse">
            <a:avLst/>
          </a:prstGeom>
          <a:solidFill>
            <a:srgbClr val="1C2330"/>
          </a:solidFill>
          <a:ln w="15875">
            <a:solidFill>
              <a:srgbClr val="5EEAD4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914400" y="4005072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5EEA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⛨</a:t>
            </a:r>
            <a:endParaRPr lang="en-US" sz="1800" dirty="0"/>
          </a:p>
        </p:txBody>
      </p:sp>
      <p:sp>
        <p:nvSpPr>
          <p:cNvPr id="22" name="Text 20"/>
          <p:cNvSpPr/>
          <p:nvPr/>
        </p:nvSpPr>
        <p:spPr>
          <a:xfrm>
            <a:off x="914400" y="4617720"/>
            <a:ext cx="29260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6EDF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Schema-drift defense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914400" y="4956048"/>
            <a:ext cx="2926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AA7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Missing props ignored, odd types logged &amp; skipped, eligibility re-checked.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4279392" y="3749040"/>
            <a:ext cx="3383280" cy="1691640"/>
          </a:xfrm>
          <a:prstGeom prst="roundRect">
            <a:avLst>
              <a:gd name="adj" fmla="val 4324"/>
            </a:avLst>
          </a:prstGeom>
          <a:solidFill>
            <a:srgbClr val="161B22"/>
          </a:solidFill>
          <a:ln w="12700">
            <a:solidFill>
              <a:srgbClr val="2A324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4553712" y="4005072"/>
            <a:ext cx="502920" cy="502920"/>
          </a:xfrm>
          <a:prstGeom prst="ellipse">
            <a:avLst/>
          </a:prstGeom>
          <a:solidFill>
            <a:srgbClr val="1C2330"/>
          </a:solidFill>
          <a:ln w="15875">
            <a:solidFill>
              <a:srgbClr val="5EEAD4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4553712" y="4005072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5EEA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</a:t>
            </a:r>
            <a:endParaRPr lang="en-US" sz="1800" dirty="0"/>
          </a:p>
        </p:txBody>
      </p:sp>
      <p:sp>
        <p:nvSpPr>
          <p:cNvPr id="27" name="Text 25"/>
          <p:cNvSpPr/>
          <p:nvPr/>
        </p:nvSpPr>
        <p:spPr>
          <a:xfrm>
            <a:off x="4553712" y="4617720"/>
            <a:ext cx="29260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6EDF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AI only where needed</a:t>
            </a:r>
            <a:endParaRPr lang="en-US" sz="1500" dirty="0"/>
          </a:p>
        </p:txBody>
      </p:sp>
      <p:sp>
        <p:nvSpPr>
          <p:cNvPr id="28" name="Text 26"/>
          <p:cNvSpPr/>
          <p:nvPr/>
        </p:nvSpPr>
        <p:spPr>
          <a:xfrm>
            <a:off x="4553712" y="4956048"/>
            <a:ext cx="2926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AA7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DeepSeek for judgment; regex for parsing, filtering, routing. No wasted tokens.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7918704" y="3749040"/>
            <a:ext cx="3383280" cy="1691640"/>
          </a:xfrm>
          <a:prstGeom prst="roundRect">
            <a:avLst>
              <a:gd name="adj" fmla="val 4324"/>
            </a:avLst>
          </a:prstGeom>
          <a:solidFill>
            <a:srgbClr val="161B22"/>
          </a:solidFill>
          <a:ln w="12700">
            <a:solidFill>
              <a:srgbClr val="2A324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8193024" y="4005072"/>
            <a:ext cx="502920" cy="502920"/>
          </a:xfrm>
          <a:prstGeom prst="ellipse">
            <a:avLst/>
          </a:prstGeom>
          <a:solidFill>
            <a:srgbClr val="1C2330"/>
          </a:solidFill>
          <a:ln w="15875">
            <a:solidFill>
              <a:srgbClr val="5EEAD4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8193024" y="4005072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5EEA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⌗</a:t>
            </a:r>
            <a:endParaRPr lang="en-US" sz="1800" dirty="0"/>
          </a:p>
        </p:txBody>
      </p:sp>
      <p:sp>
        <p:nvSpPr>
          <p:cNvPr id="32" name="Text 30"/>
          <p:cNvSpPr/>
          <p:nvPr/>
        </p:nvSpPr>
        <p:spPr>
          <a:xfrm>
            <a:off x="8193024" y="4617720"/>
            <a:ext cx="29260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6EDF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Observability + Slack</a:t>
            </a:r>
            <a:endParaRPr lang="en-US" sz="1500" dirty="0"/>
          </a:p>
        </p:txBody>
      </p:sp>
      <p:sp>
        <p:nvSpPr>
          <p:cNvPr id="33" name="Text 31"/>
          <p:cNvSpPr/>
          <p:nvPr/>
        </p:nvSpPr>
        <p:spPr>
          <a:xfrm>
            <a:off x="8193024" y="4956048"/>
            <a:ext cx="2926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AA7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Logs keyed by id, email, stage; Slack status to the team at start and finish.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spc="200" kern="0" dirty="0">
                <a:solidFill>
                  <a:srgbClr val="5EEA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TECHNICAL WRITING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822960"/>
            <a:ext cx="108813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E6EDF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documentation is part of the deliverable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640080" y="1691640"/>
            <a:ext cx="49377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9AA7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service ships an operational handbook. For a system that runs unattended, the docs are the reliability layer.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2788920"/>
            <a:ext cx="5029200" cy="914400"/>
          </a:xfrm>
          <a:prstGeom prst="roundRect">
            <a:avLst>
              <a:gd name="adj" fmla="val 8000"/>
            </a:avLst>
          </a:prstGeom>
          <a:solidFill>
            <a:srgbClr val="161B22"/>
          </a:solidFill>
          <a:ln w="12700">
            <a:solidFill>
              <a:srgbClr val="2A324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14400" y="2907792"/>
            <a:ext cx="4572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5EEAD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Audience-layered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914400" y="3246120"/>
            <a:ext cx="45720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AA7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One-table overview for managers, branch-level depth for developers, same doc.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640080" y="3840480"/>
            <a:ext cx="5029200" cy="914400"/>
          </a:xfrm>
          <a:prstGeom prst="roundRect">
            <a:avLst>
              <a:gd name="adj" fmla="val 8000"/>
            </a:avLst>
          </a:prstGeom>
          <a:solidFill>
            <a:srgbClr val="161B22"/>
          </a:solidFill>
          <a:ln w="12700">
            <a:solidFill>
              <a:srgbClr val="2A324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914400" y="3959352"/>
            <a:ext cx="4572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5EEAD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Operational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914400" y="4297680"/>
            <a:ext cx="45720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AA7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Documents which log line proves which behavior: debug by grep, not by reading source.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640080" y="4892040"/>
            <a:ext cx="5029200" cy="914400"/>
          </a:xfrm>
          <a:prstGeom prst="roundRect">
            <a:avLst>
              <a:gd name="adj" fmla="val 8000"/>
            </a:avLst>
          </a:prstGeom>
          <a:solidFill>
            <a:srgbClr val="161B22"/>
          </a:solidFill>
          <a:ln w="12700">
            <a:solidFill>
              <a:srgbClr val="2A324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914400" y="5010912"/>
            <a:ext cx="4572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5EEAD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Failure-first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914400" y="5349240"/>
            <a:ext cx="45720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AA7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Maps real symptoms to the exact gate that caused them.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6035040" y="1691640"/>
            <a:ext cx="5532120" cy="4480560"/>
          </a:xfrm>
          <a:prstGeom prst="roundRect">
            <a:avLst>
              <a:gd name="adj" fmla="val 1633"/>
            </a:avLst>
          </a:prstGeom>
          <a:solidFill>
            <a:srgbClr val="0A0E14"/>
          </a:solidFill>
          <a:ln w="12700">
            <a:solidFill>
              <a:srgbClr val="2A3240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309360" y="1920240"/>
            <a:ext cx="146304" cy="146304"/>
          </a:xfrm>
          <a:prstGeom prst="ellipse">
            <a:avLst/>
          </a:prstGeom>
          <a:solidFill>
            <a:srgbClr val="E06C75"/>
          </a:solidFill>
          <a:ln/>
        </p:spPr>
      </p:sp>
      <p:sp>
        <p:nvSpPr>
          <p:cNvPr id="16" name="Shape 14"/>
          <p:cNvSpPr/>
          <p:nvPr/>
        </p:nvSpPr>
        <p:spPr>
          <a:xfrm>
            <a:off x="6601968" y="1920240"/>
            <a:ext cx="146304" cy="146304"/>
          </a:xfrm>
          <a:prstGeom prst="ellipse">
            <a:avLst/>
          </a:prstGeom>
          <a:solidFill>
            <a:srgbClr val="E5C07B"/>
          </a:solidFill>
          <a:ln/>
        </p:spPr>
      </p:sp>
      <p:sp>
        <p:nvSpPr>
          <p:cNvPr id="17" name="Shape 15"/>
          <p:cNvSpPr/>
          <p:nvPr/>
        </p:nvSpPr>
        <p:spPr>
          <a:xfrm>
            <a:off x="6894576" y="1920240"/>
            <a:ext cx="146304" cy="146304"/>
          </a:xfrm>
          <a:prstGeom prst="ellipse">
            <a:avLst/>
          </a:prstGeom>
          <a:solidFill>
            <a:srgbClr val="98C379"/>
          </a:solidFill>
          <a:ln/>
        </p:spPr>
      </p:sp>
      <p:sp>
        <p:nvSpPr>
          <p:cNvPr id="18" name="Text 16"/>
          <p:cNvSpPr/>
          <p:nvPr/>
        </p:nvSpPr>
        <p:spPr>
          <a:xfrm>
            <a:off x="7315200" y="18745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D88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troubleshooting.md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6355080" y="2331720"/>
            <a:ext cx="489204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7D88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## Troubleshooting
</a:t>
            </a:r>
            <a:pPr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5EEA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Candidate not considered for a role, check, in order:
</a:t>
            </a:r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1. Stage-2 keyword overlap
  2. Stage-3 hard filters (language, location, score)
  3. existing scored row (already processed)
  4. duplicate-email de-duplication
</a:t>
            </a:r>
            <a:pPr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5EEA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Fewer qualified matches than target, expected:
</a:t>
            </a:r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Stage 6 backfills below-threshold by descending</a:t>
            </a:r>
            <a:endParaRPr lang="en-US" sz="12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score and logs </a:t>
            </a:r>
            <a:endParaRPr lang="en-US" sz="12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F0B86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fallback_selected=true</a:t>
            </a:r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per row.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spc="200" kern="0" dirty="0">
                <a:solidFill>
                  <a:srgbClr val="5EEA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IMPACT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822960"/>
            <a:ext cx="108813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E6EDF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What the automation delivers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920240"/>
            <a:ext cx="5120640" cy="1737360"/>
          </a:xfrm>
          <a:prstGeom prst="roundRect">
            <a:avLst>
              <a:gd name="adj" fmla="val 4211"/>
            </a:avLst>
          </a:prstGeom>
          <a:solidFill>
            <a:srgbClr val="1C2330"/>
          </a:solidFill>
          <a:ln w="12700">
            <a:solidFill>
              <a:srgbClr val="2A324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005840" y="2212848"/>
            <a:ext cx="45720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5EEAD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40,000</a:t>
            </a:r>
            <a:endParaRPr lang="en-US" sz="3800" dirty="0"/>
          </a:p>
        </p:txBody>
      </p:sp>
      <p:sp>
        <p:nvSpPr>
          <p:cNvPr id="6" name="Text 4"/>
          <p:cNvSpPr/>
          <p:nvPr/>
        </p:nvSpPr>
        <p:spPr>
          <a:xfrm>
            <a:off x="1024128" y="3063240"/>
            <a:ext cx="45262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AA7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candidate rows scanned per matching run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6080760" y="1920240"/>
            <a:ext cx="5120640" cy="1737360"/>
          </a:xfrm>
          <a:prstGeom prst="roundRect">
            <a:avLst>
              <a:gd name="adj" fmla="val 4211"/>
            </a:avLst>
          </a:prstGeom>
          <a:solidFill>
            <a:srgbClr val="1C2330"/>
          </a:solidFill>
          <a:ln w="12700">
            <a:solidFill>
              <a:srgbClr val="2A324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446520" y="2212848"/>
            <a:ext cx="45720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5EEAD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90-120 min</a:t>
            </a:r>
            <a:endParaRPr lang="en-US" sz="3800" dirty="0"/>
          </a:p>
        </p:txBody>
      </p:sp>
      <p:sp>
        <p:nvSpPr>
          <p:cNvPr id="9" name="Text 7"/>
          <p:cNvSpPr/>
          <p:nvPr/>
        </p:nvSpPr>
        <p:spPr>
          <a:xfrm>
            <a:off x="6464808" y="3063240"/>
            <a:ext cx="45262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AA7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run on Railway, with Slack status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640080" y="3886200"/>
            <a:ext cx="5120640" cy="1737360"/>
          </a:xfrm>
          <a:prstGeom prst="roundRect">
            <a:avLst>
              <a:gd name="adj" fmla="val 4211"/>
            </a:avLst>
          </a:prstGeom>
          <a:solidFill>
            <a:srgbClr val="1C2330"/>
          </a:solidFill>
          <a:ln w="12700">
            <a:solidFill>
              <a:srgbClr val="2A324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005840" y="4178808"/>
            <a:ext cx="45720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5EEAD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2,000+/day</a:t>
            </a:r>
            <a:endParaRPr lang="en-US" sz="3800" dirty="0"/>
          </a:p>
        </p:txBody>
      </p:sp>
      <p:sp>
        <p:nvSpPr>
          <p:cNvPr id="12" name="Text 10"/>
          <p:cNvSpPr/>
          <p:nvPr/>
        </p:nvSpPr>
        <p:spPr>
          <a:xfrm>
            <a:off x="1024128" y="5029200"/>
            <a:ext cx="45262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AA7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WhatsApp + emails (Twilio + Postmark)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6080760" y="3886200"/>
            <a:ext cx="5120640" cy="1737360"/>
          </a:xfrm>
          <a:prstGeom prst="roundRect">
            <a:avLst>
              <a:gd name="adj" fmla="val 4211"/>
            </a:avLst>
          </a:prstGeom>
          <a:solidFill>
            <a:srgbClr val="1C2330"/>
          </a:solidFill>
          <a:ln w="12700">
            <a:solidFill>
              <a:srgbClr val="2A324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446520" y="4178808"/>
            <a:ext cx="45720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5EEAD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&lt;1 min</a:t>
            </a:r>
            <a:endParaRPr lang="en-US" sz="3800" dirty="0"/>
          </a:p>
        </p:txBody>
      </p:sp>
      <p:sp>
        <p:nvSpPr>
          <p:cNvPr id="15" name="Text 13"/>
          <p:cNvSpPr/>
          <p:nvPr/>
        </p:nvSpPr>
        <p:spPr>
          <a:xfrm>
            <a:off x="6464808" y="5029200"/>
            <a:ext cx="45262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AA7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parse a CV, regex-first, AI only when needed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640080" y="5943600"/>
            <a:ext cx="10881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7D8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Manual work that took weeks, now seconds to a couple of hours. Workflow on the previous slides.</a:t>
            </a:r>
            <a:endParaRPr lang="en-US" sz="13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1097280"/>
            <a:ext cx="10058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spc="200" kern="0" dirty="0">
                <a:solidFill>
                  <a:srgbClr val="5EEA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WHAT THIS DEMONSTRATES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640080" y="1691640"/>
            <a:ext cx="109728" cy="914400"/>
          </a:xfrm>
          <a:prstGeom prst="roundRect">
            <a:avLst>
              <a:gd name="adj" fmla="val 50000"/>
            </a:avLst>
          </a:prstGeom>
          <a:solidFill>
            <a:srgbClr val="5EEAD4"/>
          </a:solidFill>
          <a:ln/>
        </p:spPr>
      </p:sp>
      <p:sp>
        <p:nvSpPr>
          <p:cNvPr id="4" name="Text 2"/>
          <p:cNvSpPr/>
          <p:nvPr/>
        </p:nvSpPr>
        <p:spPr>
          <a:xfrm>
            <a:off x="1005840" y="1709928"/>
            <a:ext cx="3657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E6EDF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AI automation</a:t>
            </a:r>
            <a:endParaRPr lang="en-US" sz="2100" dirty="0"/>
          </a:p>
        </p:txBody>
      </p:sp>
      <p:sp>
        <p:nvSpPr>
          <p:cNvPr id="5" name="Text 3"/>
          <p:cNvSpPr/>
          <p:nvPr/>
        </p:nvSpPr>
        <p:spPr>
          <a:xfrm>
            <a:off x="1005840" y="2148840"/>
            <a:ext cx="9601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9AA7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 event-driven services, idempotent, rate-limited, running unattended in production.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640080" y="2834640"/>
            <a:ext cx="109728" cy="914400"/>
          </a:xfrm>
          <a:prstGeom prst="roundRect">
            <a:avLst>
              <a:gd name="adj" fmla="val 50000"/>
            </a:avLst>
          </a:prstGeom>
          <a:solidFill>
            <a:srgbClr val="5EEAD4"/>
          </a:solidFill>
          <a:ln/>
        </p:spPr>
      </p:sp>
      <p:sp>
        <p:nvSpPr>
          <p:cNvPr id="7" name="Text 5"/>
          <p:cNvSpPr/>
          <p:nvPr/>
        </p:nvSpPr>
        <p:spPr>
          <a:xfrm>
            <a:off x="1005840" y="2852928"/>
            <a:ext cx="3657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E6EDF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Technical writing</a:t>
            </a:r>
            <a:endParaRPr lang="en-US" sz="2100" dirty="0"/>
          </a:p>
        </p:txBody>
      </p:sp>
      <p:sp>
        <p:nvSpPr>
          <p:cNvPr id="8" name="Text 6"/>
          <p:cNvSpPr/>
          <p:nvPr/>
        </p:nvSpPr>
        <p:spPr>
          <a:xfrm>
            <a:off x="1005840" y="3291840"/>
            <a:ext cx="9601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9AA7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Audience-layered operational handbooks, failure-first troubleshooting, this case study.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640080" y="3977640"/>
            <a:ext cx="109728" cy="914400"/>
          </a:xfrm>
          <a:prstGeom prst="roundRect">
            <a:avLst>
              <a:gd name="adj" fmla="val 50000"/>
            </a:avLst>
          </a:prstGeom>
          <a:solidFill>
            <a:srgbClr val="5EEAD4"/>
          </a:solidFill>
          <a:ln/>
        </p:spPr>
      </p:sp>
      <p:sp>
        <p:nvSpPr>
          <p:cNvPr id="10" name="Text 8"/>
          <p:cNvSpPr/>
          <p:nvPr/>
        </p:nvSpPr>
        <p:spPr>
          <a:xfrm>
            <a:off x="1005840" y="3995928"/>
            <a:ext cx="3657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E6EDF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Cost-aware AI</a:t>
            </a:r>
            <a:endParaRPr lang="en-US" sz="2100" dirty="0"/>
          </a:p>
        </p:txBody>
      </p:sp>
      <p:sp>
        <p:nvSpPr>
          <p:cNvPr id="11" name="Text 9"/>
          <p:cNvSpPr/>
          <p:nvPr/>
        </p:nvSpPr>
        <p:spPr>
          <a:xfrm>
            <a:off x="1005840" y="4434840"/>
            <a:ext cx="9601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9AA7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DeepSeek on judgment-heavy steps, regex everywhere else. No wasted tokens.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640080" y="5486400"/>
            <a:ext cx="6400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E6EDF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Wessam Mandour</a:t>
            </a:r>
            <a:endParaRPr lang="en-US" sz="2200" dirty="0"/>
          </a:p>
        </p:txBody>
      </p:sp>
      <p:sp>
        <p:nvSpPr>
          <p:cNvPr id="13" name="Text 11"/>
          <p:cNvSpPr/>
          <p:nvPr/>
        </p:nvSpPr>
        <p:spPr>
          <a:xfrm>
            <a:off x="640080" y="598932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AA7B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wessam.mandour94@gmail.com   ·   linkedin.com/in/wessam-mandour   ·   github.com/Wessam-Mandour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2026-06-08T17:11:30Z</dcterms:created>
  <dcterms:modified xsi:type="dcterms:W3CDTF">2026-06-08T17:11:30Z</dcterms:modified>
</cp:coreProperties>
</file>